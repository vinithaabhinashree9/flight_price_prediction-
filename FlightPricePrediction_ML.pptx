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-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 Vidhya" userId="ec93265eb8127b64" providerId="LiveId" clId="{D612E108-6CA0-4C29-9B98-AF393DB50435}"/>
    <pc:docChg chg="modSld">
      <pc:chgData name="Sri Vidhya" userId="ec93265eb8127b64" providerId="LiveId" clId="{D612E108-6CA0-4C29-9B98-AF393DB50435}" dt="2026-03-16T09:13:50.782" v="79" actId="20577"/>
      <pc:docMkLst>
        <pc:docMk/>
      </pc:docMkLst>
      <pc:sldChg chg="modSp mod">
        <pc:chgData name="Sri Vidhya" userId="ec93265eb8127b64" providerId="LiveId" clId="{D612E108-6CA0-4C29-9B98-AF393DB50435}" dt="2026-03-16T08:44:57.805" v="78" actId="20577"/>
        <pc:sldMkLst>
          <pc:docMk/>
          <pc:sldMk cId="0" sldId="256"/>
        </pc:sldMkLst>
        <pc:spChg chg="mod">
          <ac:chgData name="Sri Vidhya" userId="ec93265eb8127b64" providerId="LiveId" clId="{D612E108-6CA0-4C29-9B98-AF393DB50435}" dt="2026-03-16T08:44:57.805" v="78" actId="20577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Sri Vidhya" userId="ec93265eb8127b64" providerId="LiveId" clId="{D612E108-6CA0-4C29-9B98-AF393DB50435}" dt="2026-03-16T09:13:50.782" v="79" actId="20577"/>
        <pc:sldMkLst>
          <pc:docMk/>
          <pc:sldMk cId="0" sldId="264"/>
        </pc:sldMkLst>
        <pc:spChg chg="mod">
          <ac:chgData name="Sri Vidhya" userId="ec93265eb8127b64" providerId="LiveId" clId="{D612E108-6CA0-4C29-9B98-AF393DB50435}" dt="2026-03-16T09:13:50.782" v="79" actId="20577"/>
          <ac:spMkLst>
            <pc:docMk/>
            <pc:sldMk cId="0" sldId="264"/>
            <ac:spMk id="2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9775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112060">
              <a:alpha val="70000"/>
            </a:srgbClr>
          </a:solidFill>
          <a:ln w="12700">
            <a:solidFill>
              <a:srgbClr val="112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286000"/>
            <a:ext cx="2743200" cy="2743200"/>
          </a:xfrm>
          <a:prstGeom prst="ellipse">
            <a:avLst/>
          </a:prstGeom>
          <a:solidFill>
            <a:srgbClr val="112060">
              <a:alpha val="70000"/>
            </a:srgbClr>
          </a:solidFill>
          <a:ln w="12700">
            <a:solidFill>
              <a:srgbClr val="112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C107"/>
                </a:solidFill>
              </a:rPr>
              <a:t>MACHINE LEARNING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Flight Price Prediction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C107"/>
                </a:solidFill>
              </a:rPr>
              <a:t>Using Machine Learning  ✈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4114800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CAF9"/>
                </a:solidFill>
              </a:rPr>
              <a:t>Presented by: </a:t>
            </a:r>
            <a:r>
              <a:rPr lang="en-US" sz="1400" b="1" dirty="0">
                <a:solidFill>
                  <a:srgbClr val="FFFFFF"/>
                </a:solidFill>
              </a:rPr>
              <a:t>Vinitha Abhinashree 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CAF9"/>
                </a:solidFill>
              </a:rPr>
              <a:t>National Skill Training Institute, Bangalore |  Machine Learning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83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51760" cy="2560320"/>
          </a:xfrm>
          <a:prstGeom prst="rect">
            <a:avLst/>
          </a:prstGeom>
          <a:solidFill>
            <a:srgbClr val="F5F9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544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</a:rPr>
              <a:t>Dynamic Pricing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46E7A"/>
                </a:solidFill>
              </a:rPr>
              <a:t>Flight ticket prices fluctuate frequently based on demand, season, and availability.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2651760" cy="2560320"/>
          </a:xfrm>
          <a:prstGeom prst="rect">
            <a:avLst/>
          </a:prstGeom>
          <a:solidFill>
            <a:srgbClr val="F5F9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5544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🔢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37560" y="2148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</a:rPr>
              <a:t>Multiple Factors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6060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46E7A"/>
                </a:solidFill>
              </a:rPr>
              <a:t>Prices depend on airline, source/destination, departure time, and days before travel.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651760" cy="2560320"/>
          </a:xfrm>
          <a:prstGeom prst="rect">
            <a:avLst/>
          </a:prstGeom>
          <a:solidFill>
            <a:srgbClr val="F5F9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5544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😕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17920" y="2148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</a:rPr>
              <a:t>Traveler Challenge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26060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46E7A"/>
                </a:solidFill>
              </a:rPr>
              <a:t>Passengers struggle to determine the best time to buy a ticket at a fair price.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🎯  Goal: Build a Machine Learning model to accurately predict flight ticket prices.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83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Description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92024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447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107"/>
                </a:solidFill>
              </a:rPr>
              <a:t>~300K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</a:rPr>
              <a:t>Rows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417320"/>
            <a:ext cx="192024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4447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107"/>
                </a:solidFill>
              </a:rPr>
              <a:t>~10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6888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</a:rPr>
              <a:t>Columns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417320"/>
            <a:ext cx="192024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4447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107"/>
                </a:solidFill>
              </a:rPr>
              <a:t>Kaggle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</a:rPr>
              <a:t>Source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1417320"/>
            <a:ext cx="192024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4447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107"/>
                </a:solidFill>
              </a:rPr>
              <a:t>2 Classes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7512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</a:rPr>
              <a:t>Economy / Business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77440"/>
          <a:ext cx="8412480" cy="2514603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2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Airline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Airline company name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Categorical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Source / Destination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Departure &amp; arrival city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Categorical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Departure / Arrival Time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Time of travel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Categorical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Duration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Total flight duration (hrs)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Numerical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Days Left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Days before departure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Numerical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Price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Ticket price (₹) — Target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Numerical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83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Exploratory Data Analysis (EDA)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51760" cy="1508760"/>
          </a:xfrm>
          <a:prstGeom prst="rect">
            <a:avLst/>
          </a:prstGeom>
          <a:solidFill>
            <a:srgbClr val="EAF2FB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2651760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45389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Step 01  |  Dataset Structure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Verified shape, dtypes, and basic statistics of all 10 columns.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651760" cy="1508760"/>
          </a:xfrm>
          <a:prstGeom prst="rect">
            <a:avLst/>
          </a:prstGeom>
          <a:solidFill>
            <a:srgbClr val="EAF2FB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417320"/>
            <a:ext cx="2651760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145389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Step 02  |  Missing Values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91840" y="18288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No null values found — dataset was clean and ready to use.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2651760" cy="1508760"/>
          </a:xfrm>
          <a:prstGeom prst="rect">
            <a:avLst/>
          </a:prstGeom>
          <a:solidFill>
            <a:srgbClr val="EAF2FB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417320"/>
            <a:ext cx="2651760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145389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Step 03  |  Price Distribution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26480" y="18288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Right-skewed distribution; majority tickets priced between ₹5K–₹30K.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108960"/>
            <a:ext cx="2651760" cy="1508760"/>
          </a:xfrm>
          <a:prstGeom prst="rect">
            <a:avLst/>
          </a:prstGeom>
          <a:solidFill>
            <a:srgbClr val="EAF2FB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108960"/>
            <a:ext cx="2651760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1455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Step 04  |  Days Left vs Price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5204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Prices rise sharply as departure date approaches (&lt; 7 days).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3108960"/>
            <a:ext cx="2651760" cy="1508760"/>
          </a:xfrm>
          <a:prstGeom prst="rect">
            <a:avLst/>
          </a:prstGeom>
          <a:solidFill>
            <a:srgbClr val="EAF2FB"/>
          </a:solidFill>
          <a:ln w="1270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3108960"/>
            <a:ext cx="2651760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73552" y="31455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Step 05  |  Airline Comparison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91840" y="35204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Business class is 4-5× more expensive than economy on average.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526280"/>
            <a:ext cx="841248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5371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565C0"/>
                </a:solidFill>
              </a:rPr>
              <a:t>💡  Key Insight: Ticket prices increase significantly as the departure date approaches.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83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Preprocessing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Remove Unnecessary Columns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76479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Dropped irrelevant identifiers that don't contribute to price prediction.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560320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5146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Label &amp; One-Hot Encoding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86207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Converted categorical features (airline, city, time) into numerical values.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657600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611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Train-Test Split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95935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80% training data / 20% testing data using scikit-learn's train_test_split.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0" y="1371600"/>
            <a:ext cx="3291840" cy="3291840"/>
          </a:xfrm>
          <a:prstGeom prst="rect">
            <a:avLst/>
          </a:prstGeom>
          <a:solidFill>
            <a:srgbClr val="EAF2FB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1417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</a:rPr>
              <a:t>Train / Test Split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60720" y="1920240"/>
            <a:ext cx="278892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192024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Training Data  —  80%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760720" y="2651760"/>
            <a:ext cx="685800" cy="59436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26517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3E"/>
                </a:solidFill>
              </a:rPr>
              <a:t>Test  —  20%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0" y="34290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Tools Used: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3749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pandas</a:t>
            </a:r>
            <a:r>
              <a:rPr lang="en-US" sz="1200" dirty="0">
                <a:solidFill>
                  <a:srgbClr val="546E7A"/>
                </a:solidFill>
              </a:rPr>
              <a:t>   •   </a:t>
            </a:r>
            <a:r>
              <a:rPr lang="en-US" sz="1200" b="1" dirty="0">
                <a:solidFill>
                  <a:srgbClr val="1565C0"/>
                </a:solidFill>
              </a:rPr>
              <a:t>scikit-learn</a:t>
            </a:r>
            <a:r>
              <a:rPr lang="en-US" sz="1200" dirty="0">
                <a:solidFill>
                  <a:srgbClr val="546E7A"/>
                </a:solidFill>
              </a:rPr>
              <a:t>   •   </a:t>
            </a:r>
            <a:r>
              <a:rPr lang="en-US" sz="1200" b="1" dirty="0">
                <a:solidFill>
                  <a:srgbClr val="1565C0"/>
                </a:solidFill>
              </a:rPr>
              <a:t>numpy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4663440"/>
            <a:ext cx="84124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6908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565C0"/>
                </a:solidFill>
              </a:rPr>
              <a:t>All preprocessing steps performed using Python libraries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83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Feature Engineering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54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✈️  Airline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1572768"/>
            <a:ext cx="658368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57276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Different airlines charge different price premiums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4630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554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⏱️  Duration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20640" y="1572768"/>
            <a:ext cx="658368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57276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91840" y="19659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Longer flights generally cost more due to fuel costs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4630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1554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📅  Days Left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55280" y="1572768"/>
            <a:ext cx="658368" cy="2560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157276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Very High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26480" y="19659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Strongest predictor — last-minute tickets cost much more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063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🕐  Departure Time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286000" y="3081528"/>
            <a:ext cx="658368" cy="25603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30815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34747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Early morning &amp; late night flights tend to be cheaper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29718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91840" y="3063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🏙️  Source &amp; Destination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120640" y="3081528"/>
            <a:ext cx="658368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30815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91840" y="34747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Route popularity greatly affects base pricing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29718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26480" y="3063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💺  Class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955280" y="3081528"/>
            <a:ext cx="658368" cy="2560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0" y="30815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Very High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126480" y="34747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Business class is 4-5× more expensive than economy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83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Machine Learning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840480" cy="33832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CAF9"/>
                </a:solidFill>
              </a:rPr>
              <a:t>Algorithm Used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Linear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Regression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3246120"/>
            <a:ext cx="256032" cy="25603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2783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</a:rPr>
              <a:t>Predicts continuous numerical values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593592"/>
            <a:ext cx="256032" cy="25603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7530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</a:rPr>
              <a:t>Simple and highly interpretable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941064"/>
            <a:ext cx="256032" cy="25603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92277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</a:rPr>
              <a:t>Fast training on large datasets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288536"/>
            <a:ext cx="256032" cy="25603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2702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</a:rPr>
              <a:t>Good baseline model for regression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463040"/>
            <a:ext cx="4206240" cy="54864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490472"/>
            <a:ext cx="4023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65C0"/>
                </a:solidFill>
              </a:rPr>
              <a:t>1.  Raw Dataset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20116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88E5"/>
                </a:solidFill>
              </a:rPr>
              <a:t>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2148840"/>
            <a:ext cx="4206240" cy="54864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176272"/>
            <a:ext cx="4023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65C0"/>
                </a:solidFill>
              </a:rPr>
              <a:t>2.  Preprocessing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26974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88E5"/>
                </a:solidFill>
              </a:rPr>
              <a:t>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2834640"/>
            <a:ext cx="4206240" cy="54864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862072"/>
            <a:ext cx="4023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65C0"/>
                </a:solidFill>
              </a:rPr>
              <a:t>3.  Train Set (80%)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33832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88E5"/>
                </a:solidFill>
              </a:rPr>
              <a:t>▼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3520440"/>
            <a:ext cx="4206240" cy="54864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547872"/>
            <a:ext cx="4023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65C0"/>
                </a:solidFill>
              </a:rPr>
              <a:t>4.  Train Model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40690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88E5"/>
                </a:solidFill>
              </a:rPr>
              <a:t>▼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0" y="4206240"/>
            <a:ext cx="4206240" cy="5486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4233672"/>
            <a:ext cx="4023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5.  Predictions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83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Performance &amp; Evaluation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2651760"/>
          </a:xfrm>
          <a:prstGeom prst="ellipse">
            <a:avLst/>
          </a:prstGeom>
          <a:solidFill>
            <a:srgbClr val="0D1B3E"/>
          </a:solidFill>
          <a:ln w="50800">
            <a:solidFill>
              <a:srgbClr val="FFC10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0CAF9"/>
                </a:solidFill>
              </a:rPr>
              <a:t>R²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90CAF9"/>
                </a:solidFill>
              </a:rPr>
              <a:t>Score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C107"/>
                </a:solidFill>
              </a:rPr>
              <a:t>0.90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Excellent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1463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</a:rPr>
              <a:t>What R² = 0.90 Means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274320" cy="27432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</a:rPr>
              <a:t>The model explains 90% of price variation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2468880"/>
            <a:ext cx="274320" cy="27432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245973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</a:rPr>
              <a:t>Only 10% of variance is unexplained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83280" y="3017520"/>
            <a:ext cx="274320" cy="27432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30083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</a:rPr>
              <a:t>Strong predictive capability on unseen data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83280" y="3566160"/>
            <a:ext cx="274320" cy="27432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355701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</a:rPr>
              <a:t>Ready for real-world deployment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83280" y="4023360"/>
            <a:ext cx="5394960" cy="292608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0" y="4023360"/>
            <a:ext cx="4855464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43434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90%  Accuracy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617720"/>
            <a:ext cx="2651760" cy="347472"/>
          </a:xfrm>
          <a:prstGeom prst="rect">
            <a:avLst/>
          </a:prstGeom>
          <a:solidFill>
            <a:srgbClr val="EAF2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451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MAE: 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46451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Measures avg. absolute error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4617720"/>
            <a:ext cx="2651760" cy="347472"/>
          </a:xfrm>
          <a:prstGeom prst="rect">
            <a:avLst/>
          </a:prstGeom>
          <a:solidFill>
            <a:srgbClr val="EAF2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46451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MSE: 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0" y="46451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Penalises large errors heavily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0" y="4617720"/>
            <a:ext cx="2651760" cy="347472"/>
          </a:xfrm>
          <a:prstGeom prst="rect">
            <a:avLst/>
          </a:prstGeom>
          <a:solidFill>
            <a:srgbClr val="EAF2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46451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R²: 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46451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Variance explained by model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83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Implementation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Tech Stack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155448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1051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Python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21284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DEFB"/>
                </a:solidFill>
              </a:rPr>
              <a:t>Core Language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48256" y="1783080"/>
            <a:ext cx="155448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48256" y="181051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Flask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48256" y="221284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DEFB"/>
                </a:solidFill>
              </a:rPr>
              <a:t>Web Backend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30752" y="1783080"/>
            <a:ext cx="1554480" cy="7772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181051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Gradio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30752" y="221284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DEFB"/>
                </a:solidFill>
              </a:rPr>
              <a:t>UI Framework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13248" y="1783080"/>
            <a:ext cx="1554480" cy="7772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3248" y="181051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scikit-learn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13248" y="221284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DEFB"/>
                </a:solidFill>
              </a:rPr>
              <a:t>ML Library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95744" y="1783080"/>
            <a:ext cx="1554480" cy="7772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95744" y="181051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pandas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95744" y="221284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DEFB"/>
                </a:solidFill>
              </a:rPr>
              <a:t>Data Handling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834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User Inputs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200400"/>
            <a:ext cx="4114800" cy="329184"/>
          </a:xfrm>
          <a:prstGeom prst="rect">
            <a:avLst/>
          </a:prstGeom>
          <a:solidFill>
            <a:srgbClr val="EAF2FB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3" name="Text 21"/>
          <p:cNvSpPr/>
          <p:nvPr/>
        </p:nvSpPr>
        <p:spPr>
          <a:xfrm>
            <a:off x="502920" y="32186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✅  Flight Duration (hrs)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566160"/>
            <a:ext cx="4114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5844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✅  Days Before Departure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931920"/>
            <a:ext cx="4114800" cy="329184"/>
          </a:xfrm>
          <a:prstGeom prst="rect">
            <a:avLst/>
          </a:prstGeom>
          <a:solidFill>
            <a:srgbClr val="EAF2FB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9502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✅  Airline Name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297680"/>
            <a:ext cx="4114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3159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✅  Source &amp; Destination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663440"/>
            <a:ext cx="4114800" cy="329184"/>
          </a:xfrm>
          <a:prstGeom prst="rect">
            <a:avLst/>
          </a:prstGeom>
          <a:solidFill>
            <a:srgbClr val="EAF2FB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6817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✅  Travel Class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2834640"/>
            <a:ext cx="4023360" cy="2743200"/>
          </a:xfrm>
          <a:prstGeom prst="rect">
            <a:avLst/>
          </a:prstGeom>
          <a:solidFill>
            <a:srgbClr val="0D1B3E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926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107"/>
                </a:solidFill>
              </a:rPr>
              <a:t>📊  Output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46320" y="33832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Predicted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Ticket Price (₹)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937760" y="438912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</a:rPr>
              <a:t>• Price Prediction Chart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937760" y="473659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</a:rPr>
              <a:t>• Airline Price Analysis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937760" y="508406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</a:rPr>
              <a:t>• Real-time Interactive UI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Conclusion &amp; Future 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3931920"/>
          </a:xfrm>
          <a:prstGeom prst="rect">
            <a:avLst/>
          </a:prstGeom>
          <a:solidFill>
            <a:srgbClr val="112060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107"/>
                </a:solidFill>
              </a:rPr>
              <a:t>✅  What We Achieved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56032" cy="25603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9047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Built a Linear Regression model for predicting ticket prices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256032" cy="25603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Conducted end-to-end EDA and data preprocessing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551176"/>
            <a:ext cx="256032" cy="25603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3288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Engineered key features that impact pricing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72384"/>
            <a:ext cx="256032" cy="25603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5409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Achieved 90% R² Score on test data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593592"/>
            <a:ext cx="256032" cy="25603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57530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Developed interactive UI using Flask &amp; Gradio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914400"/>
            <a:ext cx="4114800" cy="3931920"/>
          </a:xfrm>
          <a:prstGeom prst="rect">
            <a:avLst/>
          </a:prstGeom>
          <a:solidFill>
            <a:srgbClr val="112060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107"/>
                </a:solidFill>
              </a:rPr>
              <a:t>🚀  Future Improvements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1536192"/>
            <a:ext cx="237744" cy="23774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49047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Implement advanced models: XGBoost, Random Forest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2057400"/>
            <a:ext cx="237744" cy="23774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Integrate live real-time flight price APIs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46320" y="2578608"/>
            <a:ext cx="237744" cy="23774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253288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Deploy as full web application on cloud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46320" y="3099816"/>
            <a:ext cx="237744" cy="23774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305409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Add multi-city &amp; multi-stop route support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46320" y="3621024"/>
            <a:ext cx="237744" cy="23774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357530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Build personalized alert system for price drops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70D1E"/>
          </a:solidFill>
          <a:ln w="12700">
            <a:solidFill>
              <a:srgbClr val="070D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7823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</a:rPr>
              <a:t>Flight Price Prediction Using Machine Learning  |  Vinitha Abhinashree M  |  March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703</Words>
  <Application>Microsoft Office PowerPoint</Application>
  <PresentationFormat>On-screen Show (16:9)</PresentationFormat>
  <Paragraphs>176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 Price Prediction Using Machine Learning</dc:title>
  <dc:subject>PptxGenJS Presentation</dc:subject>
  <dc:creator>PptxGenJS</dc:creator>
  <cp:lastModifiedBy>Sri Vidhya</cp:lastModifiedBy>
  <cp:revision>1</cp:revision>
  <dcterms:created xsi:type="dcterms:W3CDTF">2026-03-16T05:11:14Z</dcterms:created>
  <dcterms:modified xsi:type="dcterms:W3CDTF">2026-03-16T09:14:01Z</dcterms:modified>
</cp:coreProperties>
</file>